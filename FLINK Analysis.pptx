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2.png"/><Relationship Id="rId7" Type="http://schemas.openxmlformats.org/officeDocument/2006/relationships/hyperlink" Target="https://www.goflink.com/e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Gopuff#cite_note-layoff-1" TargetMode="External"/><Relationship Id="rId5" Type="http://schemas.openxmlformats.org/officeDocument/2006/relationships/hyperlink" Target="https://en.wikipedia.org/wiki/Online_food_ordering" TargetMode="External"/><Relationship Id="rId4" Type="http://schemas.openxmlformats.org/officeDocument/2006/relationships/hyperlink" Target="https://en.wikipedia.org/wiki/Privately_held_company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919537" y="-1831"/>
            <a:ext cx="4352925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FLINK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295398" y="585901"/>
            <a:ext cx="10706102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 FLINK BUSINESS Analysis: Benchmarking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002912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strategic evaluation of FLINK’S sales, customer satisfaction, and inventory distribution using KPIs and Power BI—positioned against FLINKS’s market presence to uncover optimization opportunities.</a:t>
            </a:r>
            <a:endParaRPr lang="en-IN" b="1" dirty="0">
              <a:solidFill>
                <a:schemeClr val="accent6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834481"/>
            <a:ext cx="7896227" cy="45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1712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9E8D77-BB2B-450B-8AD2-635B45ECF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420093"/>
              </p:ext>
            </p:extLst>
          </p:nvPr>
        </p:nvGraphicFramePr>
        <p:xfrm>
          <a:off x="190500" y="1649243"/>
          <a:ext cx="6977062" cy="540372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07122">
                  <a:extLst>
                    <a:ext uri="{9D8B030D-6E8A-4147-A177-3AD203B41FA5}">
                      <a16:colId xmlns:a16="http://schemas.microsoft.com/office/drawing/2014/main" val="3865961757"/>
                    </a:ext>
                  </a:extLst>
                </a:gridCol>
                <a:gridCol w="4069940">
                  <a:extLst>
                    <a:ext uri="{9D8B030D-6E8A-4147-A177-3AD203B41FA5}">
                      <a16:colId xmlns:a16="http://schemas.microsoft.com/office/drawing/2014/main" val="1359887199"/>
                    </a:ext>
                  </a:extLst>
                </a:gridCol>
              </a:tblGrid>
              <a:tr h="323734">
                <a:tc gridSpan="2">
                  <a:txBody>
                    <a:bodyPr/>
                    <a:lstStyle/>
                    <a:p>
                      <a:pPr algn="ctr" fontAlgn="t"/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655477"/>
                  </a:ext>
                </a:extLst>
              </a:tr>
              <a:tr h="323734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Company type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 dirty="0">
                          <a:solidFill>
                            <a:srgbClr val="3366CC"/>
                          </a:solidFill>
                          <a:effectLst/>
                          <a:hlinkClick r:id="rId4" tooltip="Privately held company"/>
                        </a:rPr>
                        <a:t>Private</a:t>
                      </a: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3428166899"/>
                  </a:ext>
                </a:extLst>
              </a:tr>
              <a:tr h="323734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Industry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5" tooltip="Online food ordering"/>
                        </a:rPr>
                        <a:t>Online food ordering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180191065"/>
                  </a:ext>
                </a:extLst>
              </a:tr>
              <a:tr h="323734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Founded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2020; 5years ago </a:t>
                      </a: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2465678872"/>
                  </a:ext>
                </a:extLst>
              </a:tr>
              <a:tr h="111163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Founders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Oliver Merkel (CEO)</a:t>
                      </a:r>
                    </a:p>
                    <a:p>
                      <a:pPr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Julian Dames</a:t>
                      </a:r>
                    </a:p>
                    <a:p>
                      <a:pPr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Christoph Cordes</a:t>
                      </a:r>
                    </a:p>
                    <a:p>
                      <a:pPr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Nikolas Bullwinkel</a:t>
                      </a: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939798329"/>
                  </a:ext>
                </a:extLst>
              </a:tr>
              <a:tr h="338059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Headquarters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Berlin, Germany</a:t>
                      </a: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3797125863"/>
                  </a:ext>
                </a:extLst>
              </a:tr>
              <a:tr h="323734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Area served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Germany, Netherland</a:t>
                      </a:r>
                      <a:endParaRPr lang="en-US" sz="1700" b="0" i="1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173445430"/>
                  </a:ext>
                </a:extLst>
              </a:tr>
              <a:tr h="323734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Services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5" tooltip="Online food ordering"/>
                        </a:rPr>
                        <a:t>Online convenience delivery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1735947621"/>
                  </a:ext>
                </a:extLst>
              </a:tr>
              <a:tr h="338059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Revenue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 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approx. US$620M </a:t>
                      </a:r>
                      <a:r>
                        <a:rPr lang="en-US" sz="1700" dirty="0">
                          <a:effectLst/>
                        </a:rPr>
                        <a:t>(2025) 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₹5,206 crore </a:t>
                      </a: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556381936"/>
                  </a:ext>
                </a:extLst>
              </a:tr>
              <a:tr h="323734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Number of employees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c. 12000</a:t>
                      </a:r>
                      <a:r>
                        <a:rPr lang="en-US" sz="1700" b="0" u="none" strike="noStrike" baseline="30000" dirty="0">
                          <a:solidFill>
                            <a:srgbClr val="3366CC"/>
                          </a:solidFill>
                          <a:effectLst/>
                          <a:hlinkClick r:id="rId6"/>
                        </a:rPr>
                        <a:t>1]</a:t>
                      </a: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3765029954"/>
                  </a:ext>
                </a:extLst>
              </a:tr>
              <a:tr h="323734">
                <a:tc>
                  <a:txBody>
                    <a:bodyPr/>
                    <a:lstStyle/>
                    <a:p>
                      <a:pPr algn="l" fontAlgn="t"/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2946590171"/>
                  </a:ext>
                </a:extLst>
              </a:tr>
              <a:tr h="746649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Website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dirty="0">
                          <a:hlinkClick r:id="rId7"/>
                        </a:rPr>
                        <a:t>https://www.goflink.com/en</a:t>
                      </a:r>
                      <a:br>
                        <a:rPr lang="en-IN" sz="1600" dirty="0"/>
                      </a:b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639133990"/>
                  </a:ext>
                </a:extLst>
              </a:tr>
            </a:tbl>
          </a:graphicData>
        </a:graphic>
      </p:graphicFrame>
      <p:pic>
        <p:nvPicPr>
          <p:cNvPr id="4" name="Picture 2" descr="Flink (company) - Wikipedia">
            <a:extLst>
              <a:ext uri="{FF2B5EF4-FFF2-40B4-BE49-F238E27FC236}">
                <a16:creationId xmlns:a16="http://schemas.microsoft.com/office/drawing/2014/main" id="{52148504-A6D3-703A-357E-B61E255E1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0" y="5867399"/>
            <a:ext cx="2381250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40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652837" y="178571"/>
            <a:ext cx="4352925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FLINK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Flink’s sales performance, customer satisfaction, and inventory distribution to identify key insights and opportunities for optimization using various KPIs and visualizations in Python.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68" y="3136047"/>
            <a:ext cx="7896227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IN" b="1" dirty="0"/>
              <a:t>Formula:</a:t>
            </a:r>
            <a:r>
              <a:rPr lang="en-US" dirty="0"/>
              <a:t>Total Sales=∑(Quantity </a:t>
            </a:r>
            <a:r>
              <a:rPr lang="en-US" dirty="0" err="1"/>
              <a:t>Sold×Price</a:t>
            </a:r>
            <a:r>
              <a:rPr lang="en-US" dirty="0"/>
              <a:t> per Item)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b="1" dirty="0"/>
              <a:t>        Formula-</a:t>
            </a:r>
            <a:r>
              <a:rPr lang="en-US" dirty="0"/>
              <a:t> Average Sales=Total Sales​ /Number of Sales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b="1" dirty="0"/>
              <a:t>        Formula-</a:t>
            </a:r>
            <a:r>
              <a:rPr lang="en-US" dirty="0"/>
              <a:t>Number of Items=Count of Unique Item Names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     </a:t>
            </a:r>
            <a:r>
              <a:rPr lang="en-IN" b="1" dirty="0"/>
              <a:t>Formula-  </a:t>
            </a:r>
            <a:r>
              <a:rPr lang="en-IN" dirty="0"/>
              <a:t>Average Rating= ∑Ratings​/ Number of Ratings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1712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Flink (company) - Wikipedia">
            <a:extLst>
              <a:ext uri="{FF2B5EF4-FFF2-40B4-BE49-F238E27FC236}">
                <a16:creationId xmlns:a16="http://schemas.microsoft.com/office/drawing/2014/main" id="{75ED1570-D17D-D4A0-9F07-49F8D8B59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4188" y="6026751"/>
            <a:ext cx="2381250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FLINK 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1827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Flink (company) - Wikipedia">
            <a:extLst>
              <a:ext uri="{FF2B5EF4-FFF2-40B4-BE49-F238E27FC236}">
                <a16:creationId xmlns:a16="http://schemas.microsoft.com/office/drawing/2014/main" id="{B0F21427-0B79-5E27-5F01-F2B21D63E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4188" y="5904732"/>
            <a:ext cx="2381250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621190" y="182617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FLINK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218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Flink (company) - Wikipedia">
            <a:extLst>
              <a:ext uri="{FF2B5EF4-FFF2-40B4-BE49-F238E27FC236}">
                <a16:creationId xmlns:a16="http://schemas.microsoft.com/office/drawing/2014/main" id="{3CECAE7A-585D-FEB7-4EC3-ACDBA9695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5530" y="5855571"/>
            <a:ext cx="2381250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10592</TotalTime>
  <Words>512</Words>
  <Application>Microsoft Office PowerPoint</Application>
  <PresentationFormat>Widescreen</PresentationFormat>
  <Paragraphs>65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Rounded MT Bold</vt:lpstr>
      <vt:lpstr>Calibri</vt:lpstr>
      <vt:lpstr>Calibri Light</vt:lpstr>
      <vt:lpstr>Segoe UI Black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Abhishek Mehandole</cp:lastModifiedBy>
  <cp:revision>22</cp:revision>
  <dcterms:created xsi:type="dcterms:W3CDTF">2024-06-24T12:27:37Z</dcterms:created>
  <dcterms:modified xsi:type="dcterms:W3CDTF">2026-01-30T08:25:19Z</dcterms:modified>
</cp:coreProperties>
</file>